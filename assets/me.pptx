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594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638300"/>
            <a:ext cx="6096000" cy="895350"/>
          </a:xfrm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8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项目名称</a:t>
            </a:r>
            <a:endParaRPr sz="28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00250" y="2571750"/>
            <a:ext cx="5143500" cy="914400"/>
          </a:xfrm>
        </p:spPr>
        <p:txBody>
          <a:bodyPr wrap="square" lIns="57150" tIns="38100" rIns="57150" bIns="38100" anchor="t"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 sz="1500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项目说明</a:t>
            </a:r>
            <a:endParaRPr sz="1500">
              <a:solidFill>
                <a:srgbClr val="586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28700" y="295275"/>
            <a:ext cx="7143750" cy="457200"/>
          </a:xfrm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内容页标题</a:t>
            </a:r>
            <a:endParaRPr sz="22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76300" y="1123950"/>
            <a:ext cx="7391400" cy="3286125"/>
          </a:xfrm>
        </p:spPr>
        <p:txBody>
          <a:bodyPr wrap="square" lIns="133350" tIns="95250" rIns="133350" bIns="95250" anchor="t">
            <a:normAutofit/>
          </a:bodyPr>
          <a:lstStyle/>
          <a:p>
            <a:pPr lvl="0" algn="l">
              <a:lnSpc>
                <a:spcPct val="115000"/>
              </a:lnSpc>
              <a:buNone/>
              <a:defRPr sz="16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单击此处添加内容</a:t>
            </a:r>
            <a:endParaRPr sz="1650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594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8750" y="2905125"/>
            <a:ext cx="6286500" cy="742950"/>
          </a:xfrm>
        </p:spPr>
        <p:txBody>
          <a:bodyPr wrap="square" lIns="57150" tIns="38100" rIns="57150" bIns="38100" anchor="ctr">
            <a:normAutofit/>
          </a:bodyPr>
          <a:lstStyle>
            <a:lvl1pPr algn="l">
              <a:buNone/>
              <a:defRPr sz="3000" b="1" cap="all"/>
            </a:lvl1pPr>
          </a:lstStyle>
          <a:p>
            <a:pPr algn="l">
              <a:defRPr sz="270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章节标题</a:t>
            </a:r>
            <a:endParaRPr sz="270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286000" y="3676650"/>
            <a:ext cx="4572000" cy="400050"/>
          </a:xfrm>
        </p:spPr>
        <p:txBody>
          <a:bodyPr wrap="square" lIns="57150" tIns="38100" rIns="57150" bIns="38100" anchor="ctr"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>
              <a:buNone/>
              <a:defRPr sz="1350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章节说明</a:t>
            </a:r>
            <a:endParaRPr sz="1350">
              <a:solidFill>
                <a:srgbClr val="586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28700" y="295275"/>
            <a:ext cx="7143750" cy="457200"/>
          </a:xfrm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双栏页标题</a:t>
            </a:r>
            <a:endParaRPr sz="22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81050" y="1123950"/>
            <a:ext cx="3429000" cy="3295650"/>
          </a:xfrm>
        </p:spPr>
        <p:txBody>
          <a:bodyPr wrap="square" lIns="152400" tIns="114300" rIns="152400" bIns="95250" anchor="t">
            <a:normAutofit/>
          </a:bodyPr>
          <a:lstStyle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>
            <a:pPr lvl="0" algn="l">
              <a:lnSpc>
                <a:spcPct val="112000"/>
              </a:lnSpc>
              <a:buNone/>
              <a:def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左侧内容</a:t>
            </a:r>
            <a:endParaRPr sz="1500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2" hasCustomPrompt="1"/>
          </p:nvPr>
        </p:nvSpPr>
        <p:spPr>
          <a:xfrm>
            <a:off x="4933950" y="1123950"/>
            <a:ext cx="3429000" cy="3295650"/>
          </a:xfrm>
        </p:spPr>
        <p:txBody>
          <a:bodyPr wrap="square" lIns="152400" tIns="114300" rIns="152400" bIns="95250" anchor="t">
            <a:normAutofit/>
          </a:bodyPr>
          <a:lstStyle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>
            <a:pPr lvl="0" algn="l">
              <a:lnSpc>
                <a:spcPct val="112000"/>
              </a:lnSpc>
              <a:buNone/>
              <a:def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右侧内容</a:t>
            </a:r>
            <a:endParaRPr sz="1500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28700" y="295275"/>
            <a:ext cx="7143750" cy="457200"/>
          </a:xfrm>
        </p:spPr>
        <p:txBody>
          <a:bodyPr wrap="square" lIns="57150" tIns="38100" rIns="57150" bIns="38100" anchor="ctr">
            <a:normAutofit/>
          </a:bodyPr>
          <a:lstStyle>
            <a:lvl1pPr>
              <a:buNone/>
              <a:defRPr/>
            </a:lvl1pPr>
          </a:lstStyle>
          <a:p>
            <a:pPr algn="l">
              <a:def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对比页标题</a:t>
            </a:r>
            <a:endParaRPr sz="22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57250" y="1314450"/>
            <a:ext cx="3429000" cy="419100"/>
          </a:xfrm>
        </p:spPr>
        <p:txBody>
          <a:bodyPr wrap="square" lIns="57150" tIns="38100" rIns="57150" bIns="38100" anchor="ctr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l">
              <a:buNone/>
              <a:defRPr sz="1650" b="1">
                <a:solidFill>
                  <a:srgbClr val="087D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D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左侧小标题</a:t>
            </a:r>
            <a:endParaRPr sz="1650" b="1">
              <a:solidFill>
                <a:srgbClr val="087D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2" hasCustomPrompt="1"/>
          </p:nvPr>
        </p:nvSpPr>
        <p:spPr>
          <a:xfrm>
            <a:off x="857250" y="1809750"/>
            <a:ext cx="3429000" cy="2609850"/>
          </a:xfrm>
        </p:spPr>
        <p:txBody>
          <a:bodyPr wrap="square" lIns="114300" tIns="76200" rIns="114300" bIns="76200" anchor="t">
            <a:normAutofit/>
          </a:bodyPr>
          <a:lstStyle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>
            <a:pPr lvl="0" algn="l">
              <a:lnSpc>
                <a:spcPct val="112000"/>
              </a:lnSpc>
              <a:buNone/>
              <a:def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左侧内容</a:t>
            </a:r>
            <a:endParaRPr sz="1350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3" hasCustomPrompt="1"/>
          </p:nvPr>
        </p:nvSpPr>
        <p:spPr>
          <a:xfrm>
            <a:off x="4857750" y="1314450"/>
            <a:ext cx="3429000" cy="419100"/>
          </a:xfrm>
        </p:spPr>
        <p:txBody>
          <a:bodyPr wrap="square" lIns="57150" tIns="38100" rIns="57150" bIns="38100" anchor="ctr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l">
              <a:buNone/>
              <a:defRPr sz="1650" b="1">
                <a:solidFill>
                  <a:srgbClr val="FF9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9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右侧小标题</a:t>
            </a:r>
            <a:endParaRPr sz="1650" b="1">
              <a:solidFill>
                <a:srgbClr val="FF97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4" hasCustomPrompt="1"/>
          </p:nvPr>
        </p:nvSpPr>
        <p:spPr>
          <a:xfrm>
            <a:off x="4857750" y="1809750"/>
            <a:ext cx="3429000" cy="2609850"/>
          </a:xfrm>
        </p:spPr>
        <p:txBody>
          <a:bodyPr wrap="square" lIns="114300" tIns="76200" rIns="114300" bIns="76200" anchor="t">
            <a:normAutofit/>
          </a:bodyPr>
          <a:lstStyle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>
            <a:pPr lvl="0" algn="l">
              <a:lnSpc>
                <a:spcPct val="112000"/>
              </a:lnSpc>
              <a:buNone/>
              <a:def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右侧内容</a:t>
            </a:r>
            <a:endParaRPr sz="1350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28700" y="295275"/>
            <a:ext cx="7143750" cy="457200"/>
          </a:xfrm>
        </p:spPr>
        <p:txBody>
          <a:bodyPr wrap="square" lIns="57150" tIns="38100" rIns="57150" bIns="38100" anchor="ctr">
            <a:normAutofit/>
          </a:bodyPr>
          <a:lstStyle>
            <a:lvl1pPr algn="l">
              <a:buNone/>
              <a:defRPr sz="1500" b="1"/>
            </a:lvl1pPr>
          </a:lstStyle>
          <a:p>
            <a:pPr algn="l">
              <a:def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架构页标题</a:t>
            </a:r>
            <a:endParaRPr sz="22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0" y="1123950"/>
            <a:ext cx="5048250" cy="3295650"/>
          </a:xfrm>
        </p:spPr>
        <p:txBody>
          <a:bodyPr wrap="square" lIns="152400" tIns="114300" rIns="152400" bIns="95250" anchor="t">
            <a:normAutofit/>
          </a:bodyPr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 algn="l">
              <a:lnSpc>
                <a:spcPct val="112000"/>
              </a:lnSpc>
              <a:buNone/>
              <a:def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图片、表格或架构层级</a:t>
            </a:r>
            <a:endParaRPr sz="1500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 hasCustomPrompt="1"/>
          </p:nvPr>
        </p:nvSpPr>
        <p:spPr>
          <a:xfrm>
            <a:off x="6381750" y="1295400"/>
            <a:ext cx="1981200" cy="2762250"/>
          </a:xfrm>
        </p:spPr>
        <p:txBody>
          <a:bodyPr wrap="square" lIns="76200" tIns="76200" rIns="76200" bIns="76200"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l">
              <a:lnSpc>
                <a:spcPct val="112000"/>
              </a:lnSpc>
              <a:buNone/>
              <a:defRPr sz="1275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结论与说明</a:t>
            </a:r>
            <a:endParaRPr sz="1275">
              <a:solidFill>
                <a:srgbClr val="586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342900">
        <a:spcBef>
          <a:spcPct val="0"/>
        </a:spcBef>
        <a:buNone/>
        <a:defRPr sz="2400" b="1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342900">
        <a:lnSpc>
          <a:spcPct val="112000"/>
        </a:lnSpc>
        <a:spcBef>
          <a:spcPct val="8000"/>
        </a:spcBef>
        <a:buFont typeface="Arial" panose="020B0604020202020204"/>
        <a:buChar char="•"/>
        <a:defRPr sz="1500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342900" algn="l" defTabSz="342900">
        <a:lnSpc>
          <a:spcPct val="112000"/>
        </a:lnSpc>
        <a:spcBef>
          <a:spcPct val="5000"/>
        </a:spcBef>
        <a:buFont typeface="Arial" panose="020B0604020202020204"/>
        <a:buChar char="–"/>
        <a:defRPr sz="1350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028700" indent="-342900" algn="l" defTabSz="342900">
        <a:lnSpc>
          <a:spcPct val="112000"/>
        </a:lnSpc>
        <a:spcBef>
          <a:spcPct val="5000"/>
        </a:spcBef>
        <a:buFont typeface="Arial" panose="020B0604020202020204"/>
        <a:buChar char="•"/>
        <a:defRPr sz="1200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371600" indent="-342900" algn="l" defTabSz="342900">
        <a:lnSpc>
          <a:spcPct val="112000"/>
        </a:lnSpc>
        <a:spcBef>
          <a:spcPct val="5000"/>
        </a:spcBef>
        <a:buFont typeface="Arial" panose="020B0604020202020204"/>
        <a:buChar char="–"/>
        <a:defRPr sz="1050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714500" indent="-342900" algn="l" defTabSz="342900">
        <a:lnSpc>
          <a:spcPct val="112000"/>
        </a:lnSpc>
        <a:spcBef>
          <a:spcPct val="5000"/>
        </a:spcBef>
        <a:buFont typeface="Arial" panose="020B0604020202020204"/>
        <a:buChar char="»"/>
        <a:defRPr sz="1050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057400" indent="-342900" algn="l" defTabSz="342900">
        <a:lnSpc>
          <a:spcPct val="112000"/>
        </a:lnSpc>
        <a:spcBef>
          <a:spcPct val="5000"/>
        </a:spcBef>
        <a:buFont typeface="Arial" panose="020B0604020202020204"/>
        <a:buChar char="•"/>
        <a:defRPr sz="1050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400300" indent="-342900" algn="l" defTabSz="342900">
        <a:lnSpc>
          <a:spcPct val="112000"/>
        </a:lnSpc>
        <a:spcBef>
          <a:spcPct val="5000"/>
        </a:spcBef>
        <a:buFont typeface="Arial" panose="020B0604020202020204"/>
        <a:buChar char="•"/>
        <a:defRPr sz="1050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2743200" indent="-342900" algn="l" defTabSz="342900">
        <a:lnSpc>
          <a:spcPct val="112000"/>
        </a:lnSpc>
        <a:spcBef>
          <a:spcPct val="5000"/>
        </a:spcBef>
        <a:buFont typeface="Arial" panose="020B0604020202020204"/>
        <a:buChar char="•"/>
        <a:defRPr sz="1050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086100" indent="-342900" algn="l" defTabSz="342900">
        <a:lnSpc>
          <a:spcPct val="112000"/>
        </a:lnSpc>
        <a:spcBef>
          <a:spcPct val="5000"/>
        </a:spcBef>
        <a:buFont typeface="Arial" panose="020B0604020202020204"/>
        <a:buChar char="•"/>
        <a:defRPr sz="1050" kern="1200">
          <a:solidFill>
            <a:srgbClr val="1F273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bodyStyle>
    <p:otherStyle>
      <a:lvl1pPr marL="0" algn="l" defTabSz="342900">
        <a:lnSpc>
          <a:spcPct val="112000"/>
        </a:lnSpc>
        <a:spcBef>
          <a:spcPct val="0"/>
        </a:spcBef>
        <a:buNone/>
        <a:defRPr sz="1500" kern="1200">
          <a:solidFill>
            <a:srgbClr val="58677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342900" algn="l" defTabSz="342900">
        <a:lnSpc>
          <a:spcPct val="112000"/>
        </a:lnSpc>
        <a:spcBef>
          <a:spcPct val="0"/>
        </a:spcBef>
        <a:buNone/>
        <a:defRPr sz="1400" kern="1200">
          <a:solidFill>
            <a:srgbClr val="58677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685800" algn="l" defTabSz="342900">
        <a:lnSpc>
          <a:spcPct val="112000"/>
        </a:lnSpc>
        <a:spcBef>
          <a:spcPct val="0"/>
        </a:spcBef>
        <a:buNone/>
        <a:defRPr sz="1300" kern="1200">
          <a:solidFill>
            <a:srgbClr val="58677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028700" algn="l" defTabSz="342900">
        <a:lnSpc>
          <a:spcPct val="112000"/>
        </a:lnSpc>
        <a:spcBef>
          <a:spcPct val="0"/>
        </a:spcBef>
        <a:buNone/>
        <a:defRPr sz="1200" kern="1200">
          <a:solidFill>
            <a:srgbClr val="58677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371600" algn="l" defTabSz="342900">
        <a:lnSpc>
          <a:spcPct val="112000"/>
        </a:lnSpc>
        <a:spcBef>
          <a:spcPct val="0"/>
        </a:spcBef>
        <a:buNone/>
        <a:defRPr sz="1100" kern="1200">
          <a:solidFill>
            <a:srgbClr val="58677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714500" algn="l" defTabSz="342900">
        <a:lnSpc>
          <a:spcPct val="112000"/>
        </a:lnSpc>
        <a:spcBef>
          <a:spcPct val="0"/>
        </a:spcBef>
        <a:buNone/>
        <a:defRPr sz="1050" kern="1200">
          <a:solidFill>
            <a:srgbClr val="58677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057400" algn="l" defTabSz="342900">
        <a:lnSpc>
          <a:spcPct val="112000"/>
        </a:lnSpc>
        <a:spcBef>
          <a:spcPct val="0"/>
        </a:spcBef>
        <a:buNone/>
        <a:defRPr sz="1050" kern="1200">
          <a:solidFill>
            <a:srgbClr val="58677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2400300" algn="l" defTabSz="342900">
        <a:lnSpc>
          <a:spcPct val="112000"/>
        </a:lnSpc>
        <a:spcBef>
          <a:spcPct val="0"/>
        </a:spcBef>
        <a:buNone/>
        <a:defRPr sz="1050" kern="1200">
          <a:solidFill>
            <a:srgbClr val="58677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2743200" algn="l" defTabSz="342900">
        <a:lnSpc>
          <a:spcPct val="112000"/>
        </a:lnSpc>
        <a:spcBef>
          <a:spcPct val="0"/>
        </a:spcBef>
        <a:buNone/>
        <a:defRPr sz="1050" kern="1200">
          <a:solidFill>
            <a:srgbClr val="58677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ample-cover-title"/>
          <p:cNvSpPr>
            <a:spLocks noGrp="1"/>
          </p:cNvSpPr>
          <p:nvPr/>
        </p:nvSpPr>
        <p:spPr>
          <a:xfrm>
            <a:off x="1619250" y="1638300"/>
            <a:ext cx="5905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8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项目名称 / 解决方案名称</a:t>
            </a:r>
            <a:endParaRPr sz="28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ample-cover-subtitle"/>
          <p:cNvSpPr>
            <a:spLocks noGrp="1"/>
          </p:cNvSpPr>
          <p:nvPr/>
        </p:nvSpPr>
        <p:spPr>
          <a:xfrm>
            <a:off x="1619250" y="2476500"/>
            <a:ext cx="523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500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一句话说明项目目标或汇报主题</a:t>
            </a:r>
            <a:endParaRPr sz="1500">
              <a:solidFill>
                <a:srgbClr val="586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ample-cover-meta"/>
          <p:cNvSpPr>
            <a:spLocks noGrp="1"/>
          </p:cNvSpPr>
          <p:nvPr/>
        </p:nvSpPr>
        <p:spPr>
          <a:xfrm>
            <a:off x="1619250" y="31623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275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汇报部门  |  20XX年XX月</a:t>
            </a:r>
            <a:endParaRPr sz="1275">
              <a:solidFill>
                <a:srgbClr val="586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ample-agenda-title"/>
          <p:cNvSpPr>
            <a:spLocks noGrp="1"/>
          </p:cNvSpPr>
          <p:nvPr/>
        </p:nvSpPr>
        <p:spPr>
          <a:xfrm>
            <a:off x="1047750" y="295275"/>
            <a:ext cx="7124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>
              <a:def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22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ample-agenda-body"/>
          <p:cNvSpPr>
            <a:spLocks noGrp="1"/>
          </p:cNvSpPr>
          <p:nvPr/>
        </p:nvSpPr>
        <p:spPr>
          <a:xfrm>
            <a:off x="1181100" y="1257300"/>
            <a:ext cx="6667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875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87DB8"/>
                </a:solidFill>
              </a:rPr>
              <a:t>01  项目背景与需求</a:t>
            </a:r>
            <a:endParaRPr b="1">
              <a:solidFill>
                <a:srgbClr val="087DB8"/>
              </a:solidFill>
            </a:endParaRPr>
          </a:p>
          <a:p>
            <a:pPr>
              <a:defRPr sz="1875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02  方案设计与架构</a:t>
            </a:r>
            <a:endParaRPr b="1"/>
          </a:p>
          <a:p>
            <a:pPr>
              <a:defRPr sz="1875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03  核心能力与实施路径</a:t>
            </a:r>
            <a:endParaRPr b="1"/>
          </a:p>
          <a:p>
            <a:pPr>
              <a:defRPr sz="1875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04  价值收益与下一步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ample-content-title"/>
          <p:cNvSpPr>
            <a:spLocks noGrp="1"/>
          </p:cNvSpPr>
          <p:nvPr/>
        </p:nvSpPr>
        <p:spPr>
          <a:xfrm>
            <a:off x="1047750" y="295275"/>
            <a:ext cx="7124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>
              <a:def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普通内容页：每页聚焦一个观点</a:t>
            </a:r>
            <a:endParaRPr sz="22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ample-content-body"/>
          <p:cNvSpPr>
            <a:spLocks noGrp="1"/>
          </p:cNvSpPr>
          <p:nvPr/>
        </p:nvSpPr>
        <p:spPr>
          <a:xfrm>
            <a:off x="990600" y="1257300"/>
            <a:ext cx="71628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marL="0" indent="0">
              <a:buChar char="•"/>
              <a:defRPr sz="157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87DB8"/>
                </a:solidFill>
              </a:rPr>
              <a:t>核心结论：</a:t>
            </a:r>
            <a:r>
              <a:t>先说明本页最重要的判断。</a:t>
            </a:r>
          </a:p>
          <a:p>
            <a:pPr marL="0" indent="0">
              <a:buChar char="•"/>
              <a:defRPr sz="157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支撑要点：</a:t>
            </a:r>
            <a:r>
              <a:t>使用三至五条信息解释原因、能力与价值。</a:t>
            </a:r>
          </a:p>
          <a:p>
            <a:pPr marL="0" indent="0">
              <a:buChar char="•"/>
              <a:defRPr sz="157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文字控制：</a:t>
            </a:r>
            <a:r>
              <a:t>内容复杂时拆页，不压缩成关键词清单。</a:t>
            </a:r>
          </a:p>
          <a:p>
            <a:pPr marL="0" indent="0">
              <a:buChar char="•"/>
              <a:defRPr sz="157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/>
              <a:t>兼容原则：</a:t>
            </a:r>
            <a:r>
              <a:t>仅使用原生文本、图片、表格等稳定对象。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ample-two-title"/>
          <p:cNvSpPr>
            <a:spLocks noGrp="1"/>
          </p:cNvSpPr>
          <p:nvPr/>
        </p:nvSpPr>
        <p:spPr>
          <a:xfrm>
            <a:off x="1047750" y="295275"/>
            <a:ext cx="7124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>
              <a:def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双栏页：适合方案对比与并列说明</a:t>
            </a:r>
            <a:endParaRPr sz="22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ample-two-left"/>
          <p:cNvSpPr>
            <a:spLocks noGrp="1"/>
          </p:cNvSpPr>
          <p:nvPr/>
        </p:nvSpPr>
        <p:spPr>
          <a:xfrm>
            <a:off x="933450" y="1352550"/>
            <a:ext cx="3143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42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87DB8"/>
                </a:solidFill>
              </a:rPr>
              <a:t>左栏｜现状与挑战</a:t>
            </a:r>
            <a:endParaRPr b="1">
              <a:solidFill>
                <a:srgbClr val="087DB8"/>
              </a:solidFill>
            </a:endParaRPr>
          </a:p>
          <a:p>
            <a:pPr marL="0" indent="0">
              <a:buChar char="•"/>
              <a:defRPr sz="142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身份体系分散，认证体验不一致</a:t>
            </a:r>
          </a:p>
          <a:p>
            <a:pPr marL="0" indent="0">
              <a:buChar char="•"/>
              <a:defRPr sz="142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权限长期固化，风险难以及时收敛</a:t>
            </a:r>
          </a:p>
          <a:p>
            <a:pPr marL="0" indent="0">
              <a:buChar char="•"/>
              <a:defRPr sz="142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审计链路割裂，问题定位效率低</a:t>
            </a:r>
          </a:p>
        </p:txBody>
      </p:sp>
      <p:sp>
        <p:nvSpPr>
          <p:cNvPr id="3" name="sample-two-right"/>
          <p:cNvSpPr>
            <a:spLocks noGrp="1"/>
          </p:cNvSpPr>
          <p:nvPr/>
        </p:nvSpPr>
        <p:spPr>
          <a:xfrm>
            <a:off x="5029200" y="1352550"/>
            <a:ext cx="3143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42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FF9742"/>
                </a:solidFill>
              </a:rPr>
              <a:t>右栏｜建设方向</a:t>
            </a:r>
            <a:endParaRPr b="1">
              <a:solidFill>
                <a:srgbClr val="FF9742"/>
              </a:solidFill>
            </a:endParaRPr>
          </a:p>
          <a:p>
            <a:pPr marL="0" indent="0">
              <a:buChar char="•"/>
              <a:defRPr sz="142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统一身份与多因素认证</a:t>
            </a:r>
          </a:p>
          <a:p>
            <a:pPr marL="0" indent="0">
              <a:buChar char="•"/>
              <a:defRPr sz="142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动态策略与最小权限控制</a:t>
            </a:r>
          </a:p>
          <a:p>
            <a:pPr marL="0" indent="0">
              <a:buChar char="•"/>
              <a:defRPr sz="1425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全链路监测、审计与持续运营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ample-architecture-title"/>
          <p:cNvSpPr>
            <a:spLocks noGrp="1"/>
          </p:cNvSpPr>
          <p:nvPr/>
        </p:nvSpPr>
        <p:spPr>
          <a:xfrm>
            <a:off x="1047750" y="295275"/>
            <a:ext cx="7124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>
              <a:def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架构页：用层级内容替代复杂组合图形</a:t>
            </a:r>
            <a:endParaRPr sz="22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ample-architecture-body"/>
          <p:cNvSpPr>
            <a:spLocks noGrp="1"/>
          </p:cNvSpPr>
          <p:nvPr/>
        </p:nvSpPr>
        <p:spPr>
          <a:xfrm>
            <a:off x="933450" y="1371600"/>
            <a:ext cx="4762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87DB8"/>
                </a:solidFill>
              </a:rPr>
              <a:t>接入层</a:t>
            </a:r>
            <a:r>
              <a:t>　用户、终端与访问入口</a:t>
            </a:r>
          </a:p>
          <a:p>
            <a:pPr>
              <a:def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87DB8"/>
                </a:solidFill>
              </a:rPr>
              <a:t>能力层</a:t>
            </a:r>
            <a:r>
              <a:t>　身份认证、动态策略与访问控制</a:t>
            </a:r>
          </a:p>
          <a:p>
            <a:pPr>
              <a:def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87DB8"/>
                </a:solidFill>
              </a:rPr>
              <a:t>资源层</a:t>
            </a:r>
            <a:r>
              <a:t>　应用、数据与业务资源</a:t>
            </a:r>
          </a:p>
          <a:p>
            <a:pPr>
              <a:defRPr sz="150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FF9742"/>
                </a:solidFill>
              </a:rPr>
              <a:t>运营层</a:t>
            </a:r>
            <a:r>
              <a:t>　监测、审计与持续优化</a:t>
            </a:r>
          </a:p>
        </p:txBody>
      </p:sp>
      <p:sp>
        <p:nvSpPr>
          <p:cNvPr id="3" name="sample-architecture-caption"/>
          <p:cNvSpPr>
            <a:spLocks noGrp="1"/>
          </p:cNvSpPr>
          <p:nvPr/>
        </p:nvSpPr>
        <p:spPr>
          <a:xfrm>
            <a:off x="6429375" y="1409700"/>
            <a:ext cx="1809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lnSpc>
                <a:spcPct val="112000"/>
              </a:lnSpc>
              <a:buNone/>
              <a:defRPr sz="1275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关键结论</a:t>
            </a:r>
            <a:endParaRPr sz="1275">
              <a:solidFill>
                <a:srgbClr val="586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>
              <a:lnSpc>
                <a:spcPct val="112000"/>
              </a:lnSpc>
              <a:buNone/>
              <a:defRPr sz="1275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86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图片或架构示意可放在左侧内容区；右侧保留一句结论与关键说明。</a:t>
            </a:r>
            <a:endParaRPr sz="1275">
              <a:solidFill>
                <a:srgbClr val="586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ample-summary-title"/>
          <p:cNvSpPr>
            <a:spLocks noGrp="1"/>
          </p:cNvSpPr>
          <p:nvPr/>
        </p:nvSpPr>
        <p:spPr>
          <a:xfrm>
            <a:off x="1047750" y="295275"/>
            <a:ext cx="7124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>
              <a:def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总结页：价值闭环与下一步行动</a:t>
            </a:r>
            <a:endParaRPr sz="2250" b="1">
              <a:solidFill>
                <a:srgbClr val="1F27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ample-summary-left-title"/>
          <p:cNvSpPr>
            <a:spLocks noGrp="1"/>
          </p:cNvSpPr>
          <p:nvPr/>
        </p:nvSpPr>
        <p:spPr>
          <a:xfrm>
            <a:off x="838200" y="1257300"/>
            <a:ext cx="346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>
              <a:defRPr sz="1650" b="1">
                <a:solidFill>
                  <a:srgbClr val="087D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D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建设价值</a:t>
            </a:r>
            <a:endParaRPr sz="1650" b="1">
              <a:solidFill>
                <a:srgbClr val="087D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ample-summary-left-body"/>
          <p:cNvSpPr>
            <a:spLocks noGrp="1"/>
          </p:cNvSpPr>
          <p:nvPr/>
        </p:nvSpPr>
        <p:spPr>
          <a:xfrm>
            <a:off x="933450" y="1809750"/>
            <a:ext cx="32766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marL="0" indent="0">
              <a:buChar char="•"/>
              <a:def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提升整体风险防控能力</a:t>
            </a:r>
          </a:p>
          <a:p>
            <a:pPr marL="0" indent="0">
              <a:buChar char="•"/>
              <a:def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满足监管与审计要求</a:t>
            </a:r>
          </a:p>
          <a:p>
            <a:pPr marL="0" indent="0">
              <a:buChar char="•"/>
              <a:def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保障业务稳定高效运行</a:t>
            </a:r>
          </a:p>
        </p:txBody>
      </p:sp>
      <p:sp>
        <p:nvSpPr>
          <p:cNvPr id="4" name="sample-summary-right-title"/>
          <p:cNvSpPr>
            <a:spLocks noGrp="1"/>
          </p:cNvSpPr>
          <p:nvPr/>
        </p:nvSpPr>
        <p:spPr>
          <a:xfrm>
            <a:off x="4838700" y="1257300"/>
            <a:ext cx="346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>
              <a:defRPr sz="1650" b="1">
                <a:solidFill>
                  <a:srgbClr val="FF9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9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endParaRPr sz="1650" b="1">
              <a:solidFill>
                <a:srgbClr val="FF97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ample-summary-right-body"/>
          <p:cNvSpPr>
            <a:spLocks noGrp="1"/>
          </p:cNvSpPr>
          <p:nvPr/>
        </p:nvSpPr>
        <p:spPr>
          <a:xfrm>
            <a:off x="4933950" y="1809750"/>
            <a:ext cx="32766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marL="0" indent="0">
              <a:buChar char="•"/>
              <a:def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确认范围与优先级</a:t>
            </a:r>
          </a:p>
          <a:p>
            <a:pPr marL="0" indent="0">
              <a:buChar char="•"/>
              <a:def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开展试点并验证关键能力</a:t>
            </a:r>
          </a:p>
          <a:p>
            <a:pPr marL="0" indent="0">
              <a:buChar char="•"/>
              <a:defRPr sz="1350">
                <a:solidFill>
                  <a:srgbClr val="1F27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分阶段推广与持续运营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WPS 演示</Application>
  <PresentationFormat>Converted Presentation</PresentationFormat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爬爬</cp:lastModifiedBy>
  <cp:revision>1</cp:revision>
  <dcterms:created xsi:type="dcterms:W3CDTF">2026-08-26T16:52:04Z</dcterms:created>
  <dcterms:modified xsi:type="dcterms:W3CDTF">2026-08-26T16:52:04Z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6E4B686149E24FED9269B9DD5BFC1321_13</vt:lpwstr>
  </property>
  <property fmtid="{D5CDD505-2E9C-101B-9397-08002B2CF9AE}" pid="3" name="KSOProductBuildVer">
    <vt:lpwstr>2052-12.1.0.26988</vt:lpwstr>
  </property>
</Properties>
</file>